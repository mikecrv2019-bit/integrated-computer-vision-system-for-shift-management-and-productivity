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3312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53312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53312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53312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53312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3312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53312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3312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29968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29968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9968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29968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29968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9968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29968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9968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06624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06624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06624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06624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06624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06624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06624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06624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3280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0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3280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83280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59936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59936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59936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59936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59936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59936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59936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59936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36592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36592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36592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36592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36592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36592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36592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36592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13248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13248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13248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13248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13248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13248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13248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13248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9904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9904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9904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9904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9904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9904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9904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9904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66560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66560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66560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66560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66560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0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0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0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43216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43216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443216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43216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443216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443216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43216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443216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119872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119872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119872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19872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19872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19872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119872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19872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796528" y="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96528" y="685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96528" y="1371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96528" y="20574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796528" y="27432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796528" y="34290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796528" y="41148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96528" y="4800600"/>
            <a:ext cx="640080" cy="640080"/>
          </a:xfrm>
          <a:prstGeom prst="rect">
            <a:avLst/>
          </a:prstGeom>
          <a:solidFill>
            <a:srgbClr val="001A3A">
              <a:alpha val="3000"/>
            </a:srgbClr>
          </a:solidFill>
          <a:ln w="254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2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82880" y="137160"/>
            <a:ext cx="3657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82880" y="137160"/>
            <a:ext cx="0" cy="36576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95360" y="137160"/>
            <a:ext cx="3657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961120" y="137160"/>
            <a:ext cx="0" cy="36576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82880" y="4640580"/>
            <a:ext cx="3657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82880" y="4274820"/>
            <a:ext cx="0" cy="36576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595360" y="4640580"/>
            <a:ext cx="3657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961120" y="4274820"/>
            <a:ext cx="0" cy="36576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108960" y="640080"/>
            <a:ext cx="2926080" cy="292608"/>
          </a:xfrm>
          <a:prstGeom prst="rect">
            <a:avLst/>
          </a:prstGeom>
          <a:solidFill>
            <a:srgbClr val="00C9B1">
              <a:alpha val="10000"/>
            </a:srgbClr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108960" y="658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WORKFORCE INTELLIGENCE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914400" y="960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spc="800" kern="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800" dirty="0"/>
          </a:p>
        </p:txBody>
      </p:sp>
      <p:sp>
        <p:nvSpPr>
          <p:cNvPr id="126" name="Text 124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spc="10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4D</a:t>
            </a:r>
            <a:endParaRPr lang="en-US" sz="6200" dirty="0"/>
          </a:p>
        </p:txBody>
      </p:sp>
      <p:sp>
        <p:nvSpPr>
          <p:cNvPr id="127" name="Text 125"/>
          <p:cNvSpPr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· OVERTIME · CONTROL · PRODUCTIVIDAD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1828800" y="30175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seguimiento de turnos y horas extra mediante Visión por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4D — detección en tiempo real, reducción de costos y máxima productividad.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731520" y="3794760"/>
            <a:ext cx="1737360" cy="274320"/>
          </a:xfrm>
          <a:prstGeom prst="rect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31520" y="38130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2697480" y="3794760"/>
            <a:ext cx="1737360" cy="274320"/>
          </a:xfrm>
          <a:prstGeom prst="rect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697480" y="38130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DETECTION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663440" y="3794760"/>
            <a:ext cx="1737360" cy="274320"/>
          </a:xfrm>
          <a:prstGeom prst="rect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663440" y="38130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ANALYTICS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6629400" y="3794760"/>
            <a:ext cx="1737360" cy="274320"/>
          </a:xfrm>
          <a:prstGeom prst="rect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629400" y="38130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DEL PROBLEMA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</a:t>
            </a:r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Oculto de la Ineficiencia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0160">
            <a:solidFill>
              <a:srgbClr val="0915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4206240" cy="1554480"/>
          </a:xfrm>
          <a:prstGeom prst="rect">
            <a:avLst/>
          </a:prstGeom>
          <a:solidFill>
            <a:srgbClr val="FF3A5C">
              <a:alpha val="6000"/>
            </a:srgbClr>
          </a:solidFill>
          <a:ln w="6350">
            <a:solidFill>
              <a:srgbClr val="FF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1554480"/>
          </a:xfrm>
          <a:prstGeom prst="rect">
            <a:avLst/>
          </a:prstGeom>
          <a:solidFill>
            <a:srgbClr val="FF3A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MARCACIONES MANUALES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empresas con control manual registran inconsistencias en horarios de entrada y salida, generando disputas de nómina.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206240" cy="1554480"/>
          </a:xfrm>
          <a:prstGeom prst="rect">
            <a:avLst/>
          </a:prstGeom>
          <a:solidFill>
            <a:srgbClr val="FF3A5C">
              <a:alpha val="6000"/>
            </a:srgbClr>
          </a:solidFill>
          <a:ln w="6350">
            <a:solidFill>
              <a:srgbClr val="FF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54864" cy="1554480"/>
          </a:xfrm>
          <a:prstGeom prst="rect">
            <a:avLst/>
          </a:prstGeom>
          <a:solidFill>
            <a:srgbClr val="FF3A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NO AUTORIZADO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8013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4632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anual en costos de horas extra no justificadas por empleado operativo en manufactura y retail.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4206240" cy="1554480"/>
          </a:xfrm>
          <a:prstGeom prst="rect">
            <a:avLst/>
          </a:prstGeom>
          <a:solidFill>
            <a:srgbClr val="FF3A5C">
              <a:alpha val="6000"/>
            </a:srgbClr>
          </a:solidFill>
          <a:ln w="6350">
            <a:solidFill>
              <a:srgbClr val="FF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34640"/>
            <a:ext cx="54864" cy="1554480"/>
          </a:xfrm>
          <a:prstGeom prst="rect">
            <a:avLst/>
          </a:prstGeom>
          <a:solidFill>
            <a:srgbClr val="FF3A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PRODUCTIVIDAD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538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tiempo laboral se pierde en tareas improductivas no monitoreadas. Sin visibilidad no hay mejora posible.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4206240" cy="1554480"/>
          </a:xfrm>
          <a:prstGeom prst="rect">
            <a:avLst/>
          </a:prstGeom>
          <a:solidFill>
            <a:srgbClr val="FF3A5C">
              <a:alpha val="6000"/>
            </a:srgbClr>
          </a:solidFill>
          <a:ln w="6350">
            <a:solidFill>
              <a:srgbClr val="FF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834640"/>
            <a:ext cx="54864" cy="1554480"/>
          </a:xfrm>
          <a:prstGeom prst="rect">
            <a:avLst/>
          </a:prstGeom>
          <a:solidFill>
            <a:srgbClr val="FF3A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46320" y="3337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DE ASISTENCIA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538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84632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en sistemas de tarjeta física comete o permite "buddy punching" — marcación por terceros.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PROCESO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</a:t>
            </a:r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0160">
            <a:solidFill>
              <a:srgbClr val="0915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43000"/>
            <a:ext cx="1188720" cy="1005840"/>
          </a:xfrm>
          <a:prstGeom prst="rect">
            <a:avLst/>
          </a:prstGeom>
          <a:solidFill>
            <a:srgbClr val="00C9B1">
              <a:alpha val="8000"/>
            </a:srgbClr>
          </a:solidFill>
          <a:ln w="1016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252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CV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947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444752" y="1645920"/>
            <a:ext cx="299923" cy="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4675" y="1143000"/>
            <a:ext cx="1188720" cy="1005840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44675" y="1252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TURNO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44675" y="1947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933395" y="1645920"/>
            <a:ext cx="299923" cy="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3318" y="1143000"/>
            <a:ext cx="1188720" cy="1005840"/>
          </a:xfrm>
          <a:prstGeom prst="rect">
            <a:avLst/>
          </a:prstGeom>
          <a:solidFill>
            <a:srgbClr val="6699FF">
              <a:alpha val="8000"/>
            </a:srgbClr>
          </a:solidFill>
          <a:ln w="10160">
            <a:solidFill>
              <a:srgbClr val="669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33318" y="1252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33318" y="1947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422038" y="1645920"/>
            <a:ext cx="299923" cy="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1962" y="1143000"/>
            <a:ext cx="1188720" cy="1005840"/>
          </a:xfrm>
          <a:prstGeom prst="rect">
            <a:avLst/>
          </a:prstGeom>
          <a:solidFill>
            <a:srgbClr val="FFCC00">
              <a:alpha val="8000"/>
            </a:srgbClr>
          </a:solidFill>
          <a:ln w="10160">
            <a:solidFill>
              <a:srgbClr val="FFC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1962" y="1252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21962" y="1947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START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910682" y="1645920"/>
            <a:ext cx="299923" cy="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0605" y="1143000"/>
            <a:ext cx="1188720" cy="1005840"/>
          </a:xfrm>
          <a:prstGeom prst="rect">
            <a:avLst/>
          </a:prstGeom>
          <a:solidFill>
            <a:srgbClr val="00E676">
              <a:alpha val="8000"/>
            </a:srgbClr>
          </a:solidFill>
          <a:ln w="1016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0605" y="1252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0605" y="1947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END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399325" y="1645920"/>
            <a:ext cx="299923" cy="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99248" y="1143000"/>
            <a:ext cx="1188720" cy="1005840"/>
          </a:xfrm>
          <a:prstGeom prst="rect">
            <a:avLst/>
          </a:prstGeom>
          <a:solidFill>
            <a:srgbClr val="FF3A5C">
              <a:alpha val="8000"/>
            </a:srgbClr>
          </a:solidFill>
          <a:ln w="10160">
            <a:solidFill>
              <a:srgbClr val="FF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99248" y="1252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99248" y="1947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82880" y="2359152"/>
            <a:ext cx="2084832" cy="1005840"/>
          </a:xfrm>
          <a:prstGeom prst="rect">
            <a:avLst/>
          </a:prstGeom>
          <a:solidFill>
            <a:srgbClr val="00E5FF">
              <a:alpha val="6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359152"/>
            <a:ext cx="2084832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FACIAL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268833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ArcFace. Anti-spoofing 3D integrado. Latencia &lt; 200ms. Precisión 99.4%.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395728" y="2359152"/>
            <a:ext cx="2084832" cy="1005840"/>
          </a:xfrm>
          <a:prstGeom prst="rect">
            <a:avLst/>
          </a:prstGeom>
          <a:solidFill>
            <a:srgbClr val="6699FF">
              <a:alpha val="6000"/>
            </a:srgbClr>
          </a:solidFill>
          <a:ln w="6350">
            <a:solidFill>
              <a:srgbClr val="6699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5728" y="2359152"/>
            <a:ext cx="2084832" cy="54864"/>
          </a:xfrm>
          <a:prstGeom prst="rect">
            <a:avLst/>
          </a:prstGeom>
          <a:solidFill>
            <a:srgbClr val="669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87168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TURNO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87168" y="268833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con horario programado. Alertas tardanza, ausencia y abandono de zona asignada.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08576" y="2359152"/>
            <a:ext cx="2084832" cy="1005840"/>
          </a:xfrm>
          <a:prstGeom prst="rect">
            <a:avLst/>
          </a:prstGeom>
          <a:solidFill>
            <a:srgbClr val="FFCC00">
              <a:alpha val="6000"/>
            </a:srgbClr>
          </a:solidFill>
          <a:ln w="6350">
            <a:solidFill>
              <a:srgbClr val="FFC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08576" y="2359152"/>
            <a:ext cx="2084832" cy="54864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OVERTIME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0016" y="268833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solo con aprobación gerencial. Cálculo automático de costo incremental en tiempo real.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21424" y="2359152"/>
            <a:ext cx="2084832" cy="1005840"/>
          </a:xfrm>
          <a:prstGeom prst="rect">
            <a:avLst/>
          </a:prstGeom>
          <a:solidFill>
            <a:srgbClr val="00E676">
              <a:alpha val="6000"/>
            </a:srgbClr>
          </a:solidFill>
          <a:ln w="6350">
            <a:solidFill>
              <a:srgbClr val="00E6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21424" y="2359152"/>
            <a:ext cx="2084832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12864" y="268833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espacial 4D del piso operativo. Heatmaps de actividad. Reportes automatizados a nómina.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TÉCNICA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</a:t>
            </a:r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0160">
            <a:solidFill>
              <a:srgbClr val="0915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4663440" cy="804672"/>
          </a:xfrm>
          <a:prstGeom prst="rect">
            <a:avLst/>
          </a:prstGeom>
          <a:solidFill>
            <a:srgbClr val="00E5FF">
              <a:alpha val="5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20700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 BIOMÉTRICO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42646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deep learning (ArcFace). Identificación en baja iluminación, ángulos oblicuos y oclusión. Precisión 99.4%.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663440" cy="804672"/>
          </a:xfrm>
          <a:prstGeom prst="rect">
            <a:avLst/>
          </a:prstGeom>
          <a:solidFill>
            <a:srgbClr val="00E5FF">
              <a:alpha val="5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12140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PRESENCIA Y POSTURA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234086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pose corporal (MediaPipe Pose). Detecta inactividad, abandono de zona y comportamiento fuera de protocolo.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944368"/>
            <a:ext cx="4663440" cy="804672"/>
          </a:xfrm>
          <a:prstGeom prst="rect">
            <a:avLst/>
          </a:prstGeom>
          <a:solidFill>
            <a:srgbClr val="00E5FF">
              <a:alpha val="5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03580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TIMESTAMPING AUTOMÁTICO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325526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4 eventos: check-in, check-out, inicio OT y fin OT. Evidencia fotográfica cifrada en blockchain.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858768"/>
            <a:ext cx="4663440" cy="804672"/>
          </a:xfrm>
          <a:prstGeom prst="rect">
            <a:avLst/>
          </a:prstGeom>
          <a:solidFill>
            <a:srgbClr val="00E5FF">
              <a:alpha val="5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395020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APROBACIONES EN TIEMPO REAL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416966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para OT. Alertas de presencia inusual fuera de horario. Escalamiento automático a RRHH.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57800" y="1115568"/>
            <a:ext cx="3566160" cy="2011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417320"/>
            <a:ext cx="1371600" cy="1371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76872" y="1280160"/>
            <a:ext cx="0" cy="3657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2423160"/>
            <a:ext cx="0" cy="3657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3912" y="21031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99248" y="21031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1280160"/>
            <a:ext cx="658368" cy="841248"/>
          </a:xfrm>
          <a:prstGeom prst="rect">
            <a:avLst/>
          </a:prstGeom>
          <a:solidFill>
            <a:srgbClr val="000000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298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ID:042 ✓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7754112" y="1371600"/>
            <a:ext cx="658368" cy="841248"/>
          </a:xfrm>
          <a:prstGeom prst="rect">
            <a:avLst/>
          </a:prstGeom>
          <a:solidFill>
            <a:srgbClr val="000000"/>
          </a:solidFill>
          <a:ln w="10160">
            <a:solidFill>
              <a:srgbClr val="FFC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1389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ACTIVE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303520" y="29992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REC  14:32:07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315200" y="29992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DETECTED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257800" y="3246120"/>
            <a:ext cx="1097280" cy="594360"/>
          </a:xfrm>
          <a:prstGeom prst="rect">
            <a:avLst/>
          </a:prstGeom>
          <a:solidFill>
            <a:srgbClr val="00E5FF">
              <a:alpha val="6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35295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464808" y="3246120"/>
            <a:ext cx="1097280" cy="594360"/>
          </a:xfrm>
          <a:prstGeom prst="rect">
            <a:avLst/>
          </a:prstGeom>
          <a:solidFill>
            <a:srgbClr val="00E5FF">
              <a:alpha val="6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64808" y="35295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671816" y="3246120"/>
            <a:ext cx="1097280" cy="594360"/>
          </a:xfrm>
          <a:prstGeom prst="rect">
            <a:avLst/>
          </a:prstGeom>
          <a:solidFill>
            <a:srgbClr val="00E5FF">
              <a:alpha val="6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71816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71816" y="35295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TECNOLÓGICO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4D — </a:t>
            </a:r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Dimensiones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0160">
            <a:solidFill>
              <a:srgbClr val="0915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4160520" cy="1737360"/>
          </a:xfrm>
          <a:prstGeom prst="rect">
            <a:avLst/>
          </a:prstGeom>
          <a:solidFill>
            <a:srgbClr val="00E5FF">
              <a:alpha val="6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14173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5FF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1 — ESPACIAL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3D en Planta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Mapeo tridimensional del espacio operativo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476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Detección de zona asignada por empleado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2037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Heatmap de densidad y movimiento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4597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Cámaras estéreo con depth sensing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60520" cy="1737360"/>
          </a:xfrm>
          <a:prstGeom prst="rect">
            <a:avLst/>
          </a:prstGeom>
          <a:solidFill>
            <a:srgbClr val="6699FF">
              <a:alpha val="6000"/>
            </a:srgbClr>
          </a:solidFill>
          <a:ln w="7620">
            <a:solidFill>
              <a:srgbClr val="669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4173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699FF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892040" y="120700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2 — TEMPORAL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de Tiempo Continuo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6916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Tracking de presencia con precisión de segundos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9476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Registro histórico inmutable en blockchain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2037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Análisis de patrones temporales por turno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4597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Predicción de necesidades de overtime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4160520" cy="1737360"/>
          </a:xfrm>
          <a:prstGeom prst="rect">
            <a:avLst/>
          </a:prstGeom>
          <a:solidFill>
            <a:srgbClr val="FFCC00">
              <a:alpha val="6000"/>
            </a:srgbClr>
          </a:solidFill>
          <a:ln w="7620">
            <a:solidFill>
              <a:srgbClr val="FFC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2461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CC00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365760" y="303580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3 — CONDUCTUAL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Detección de inactividad prolongada &gt; N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7764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Reconocimiento de gestos y posturas laborales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0325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Score de engagement por empleado y turno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2885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Alertas de comportamiento fuera de protocolo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160520" cy="1737360"/>
          </a:xfrm>
          <a:prstGeom prst="rect">
            <a:avLst/>
          </a:prstGeom>
          <a:solidFill>
            <a:srgbClr val="00E676">
              <a:alpha val="6000"/>
            </a:srgbClr>
          </a:solidFill>
          <a:ln w="762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2461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676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4892040" y="303580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4 — FINANCIERA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92040" y="32461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Costos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5204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Cálculo en tiempo real de costo por hora activa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7764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Proyección de OT y alerta de presupuesto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40325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KPIs de productividad por turno y área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42885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Integración con ERP/nómina vía API REST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FINANCIERO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</a:t>
            </a:r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 Inversión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0160">
            <a:solidFill>
              <a:srgbClr val="091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INVERSIÓN DEL SISTEMA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0"/>
          </a:xfrm>
          <a:prstGeom prst="line">
            <a:avLst/>
          </a:prstGeom>
          <a:noFill/>
          <a:ln w="6350">
            <a:solidFill>
              <a:srgbClr val="FF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44752"/>
            <a:ext cx="4114800" cy="320040"/>
          </a:xfrm>
          <a:prstGeom prst="rect">
            <a:avLst/>
          </a:prstGeom>
          <a:solidFill>
            <a:srgbClr val="FF3A5C">
              <a:alpha val="6000"/>
            </a:srgbClr>
          </a:solidFill>
          <a:ln w="3810">
            <a:solidFill>
              <a:srgbClr val="FF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08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(cámaras + edge AI / site)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4114800" cy="320040"/>
          </a:xfrm>
          <a:prstGeom prst="rect">
            <a:avLst/>
          </a:prstGeom>
          <a:solidFill>
            <a:srgbClr val="FF3A5C">
              <a:alpha val="6000"/>
            </a:srgbClr>
          </a:solidFill>
          <a:ln w="3810">
            <a:solidFill>
              <a:srgbClr val="FF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928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licencia anual (SaaS)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8928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4114800" cy="320040"/>
          </a:xfrm>
          <a:prstGeom prst="rect">
            <a:avLst/>
          </a:prstGeom>
          <a:solidFill>
            <a:srgbClr val="FF3A5C">
              <a:alpha val="6000"/>
            </a:srgbClr>
          </a:solidFill>
          <a:ln w="3810">
            <a:solidFill>
              <a:srgbClr val="FF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76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+ integración ERP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2768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$8,500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4114800" cy="320040"/>
          </a:xfrm>
          <a:prstGeom prst="rect">
            <a:avLst/>
          </a:prstGeom>
          <a:solidFill>
            <a:srgbClr val="FF3A5C">
              <a:alpha val="6000"/>
            </a:srgbClr>
          </a:solidFill>
          <a:ln w="3810">
            <a:solidFill>
              <a:srgbClr val="FF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609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soporte año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6609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80944"/>
            <a:ext cx="4114800" cy="347472"/>
          </a:xfrm>
          <a:prstGeom prst="rect">
            <a:avLst/>
          </a:prstGeom>
          <a:solidFill>
            <a:srgbClr val="00E5FF">
              <a:alpha val="12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723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 AÑO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3072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AHORRO PROYECTADO ANUAL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4114800" cy="0"/>
          </a:xfrm>
          <a:prstGeom prst="line">
            <a:avLst/>
          </a:prstGeom>
          <a:noFill/>
          <a:ln w="6350">
            <a:solidFill>
              <a:srgbClr val="00E6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444752"/>
            <a:ext cx="4114800" cy="320040"/>
          </a:xfrm>
          <a:prstGeom prst="rect">
            <a:avLst/>
          </a:prstGeom>
          <a:solidFill>
            <a:srgbClr val="00E676">
              <a:alpha val="6000"/>
            </a:srgbClr>
          </a:solidFill>
          <a:ln w="381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508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overtime no justificado (40%)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6640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$28,800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828800"/>
            <a:ext cx="4114800" cy="320040"/>
          </a:xfrm>
          <a:prstGeom prst="rect">
            <a:avLst/>
          </a:prstGeom>
          <a:solidFill>
            <a:srgbClr val="00E676">
              <a:alpha val="6000"/>
            </a:srgbClr>
          </a:solidFill>
          <a:ln w="381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1892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buddy punching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1892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212848"/>
            <a:ext cx="4114800" cy="320040"/>
          </a:xfrm>
          <a:prstGeom prst="rect">
            <a:avLst/>
          </a:prstGeom>
          <a:solidFill>
            <a:srgbClr val="00E676">
              <a:alpha val="6000"/>
            </a:srgbClr>
          </a:solidFill>
          <a:ln w="381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2768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productividad operativa +15%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06640" y="22768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$42,000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596896"/>
            <a:ext cx="4114800" cy="320040"/>
          </a:xfrm>
          <a:prstGeom prst="rect">
            <a:avLst/>
          </a:prstGeom>
          <a:solidFill>
            <a:srgbClr val="00E676">
              <a:alpha val="6000"/>
            </a:srgbClr>
          </a:solidFill>
          <a:ln w="381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6609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gestión manual RRHH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06640" y="2660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$9,600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980944"/>
            <a:ext cx="4114800" cy="347472"/>
          </a:xfrm>
          <a:prstGeom prst="rect">
            <a:avLst/>
          </a:prstGeom>
          <a:solidFill>
            <a:srgbClr val="00E676">
              <a:alpha val="12000"/>
            </a:srgbClr>
          </a:solidFill>
          <a:ln w="762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0723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TOTAL ANUAL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3072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$94,800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00E676">
              <a:alpha val="10000"/>
            </a:srgbClr>
          </a:solidFill>
          <a:ln w="7620">
            <a:solidFill>
              <a:srgbClr val="00E6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153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DE INVERSIÓN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4165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316% ROI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3474720" y="4343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paga en 3.8 meses. Beneficio acumulado a 3 años supera $250,000 por instalación.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</a:t>
            </a:r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12 Semanas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0160">
            <a:solidFill>
              <a:srgbClr val="0915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97280"/>
            <a:ext cx="0" cy="3657600"/>
          </a:xfrm>
          <a:prstGeom prst="line">
            <a:avLst/>
          </a:prstGeom>
          <a:noFill/>
          <a:ln w="12700">
            <a:solidFill>
              <a:srgbClr val="4A6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216152"/>
            <a:ext cx="146304" cy="146304"/>
          </a:xfrm>
          <a:prstGeom prst="ellipse">
            <a:avLst/>
          </a:prstGeom>
          <a:solidFill>
            <a:srgbClr val="02081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43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1–3 · FASE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Hardware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1618488"/>
            <a:ext cx="1874520" cy="228600"/>
          </a:xfrm>
          <a:prstGeom prst="rect">
            <a:avLst/>
          </a:prstGeom>
          <a:solidFill>
            <a:srgbClr val="00E5FF">
              <a:alpha val="8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6367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cámaras IP 4K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35808" y="1618488"/>
            <a:ext cx="1874520" cy="228600"/>
          </a:xfrm>
          <a:prstGeom prst="rect">
            <a:avLst/>
          </a:prstGeom>
          <a:solidFill>
            <a:srgbClr val="00E5FF">
              <a:alpha val="8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6367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servers on-premise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65776" y="1618488"/>
            <a:ext cx="1874520" cy="228600"/>
          </a:xfrm>
          <a:prstGeom prst="rect">
            <a:avLst/>
          </a:prstGeom>
          <a:solidFill>
            <a:srgbClr val="00E5FF">
              <a:alpha val="8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6367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segura VLAN dedicada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95744" y="1618488"/>
            <a:ext cx="1874520" cy="228600"/>
          </a:xfrm>
          <a:prstGeom prst="rect">
            <a:avLst/>
          </a:prstGeom>
          <a:solidFill>
            <a:srgbClr val="00E5FF">
              <a:alpha val="8000"/>
            </a:srgbClr>
          </a:solidFill>
          <a:ln w="508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16367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biométrico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4088" y="2176272"/>
            <a:ext cx="146304" cy="146304"/>
          </a:xfrm>
          <a:prstGeom prst="ellipse">
            <a:avLst/>
          </a:prstGeom>
          <a:solidFill>
            <a:srgbClr val="020810"/>
          </a:solidFill>
          <a:ln w="19050">
            <a:solidFill>
              <a:srgbClr val="669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103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4–7 · FASE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0584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Motor CV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2578608"/>
            <a:ext cx="1874520" cy="228600"/>
          </a:xfrm>
          <a:prstGeom prst="rect">
            <a:avLst/>
          </a:prstGeom>
          <a:solidFill>
            <a:srgbClr val="6699FF">
              <a:alpha val="8000"/>
            </a:srgbClr>
          </a:solidFill>
          <a:ln w="5080">
            <a:solidFill>
              <a:srgbClr val="669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259689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Enrolamiento facial empleados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35808" y="2578608"/>
            <a:ext cx="1874520" cy="228600"/>
          </a:xfrm>
          <a:prstGeom prst="rect">
            <a:avLst/>
          </a:prstGeom>
          <a:solidFill>
            <a:srgbClr val="6699FF">
              <a:alpha val="8000"/>
            </a:srgbClr>
          </a:solidFill>
          <a:ln w="5080">
            <a:solidFill>
              <a:srgbClr val="669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0672" y="259689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zonas 4D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65776" y="2578608"/>
            <a:ext cx="1874520" cy="228600"/>
          </a:xfrm>
          <a:prstGeom prst="rect">
            <a:avLst/>
          </a:prstGeom>
          <a:solidFill>
            <a:srgbClr val="6699FF">
              <a:alpha val="8000"/>
            </a:srgbClr>
          </a:solidFill>
          <a:ln w="5080">
            <a:solidFill>
              <a:srgbClr val="669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59689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horarios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95744" y="2578608"/>
            <a:ext cx="1874520" cy="228600"/>
          </a:xfrm>
          <a:prstGeom prst="rect">
            <a:avLst/>
          </a:prstGeom>
          <a:solidFill>
            <a:srgbClr val="6699FF">
              <a:alpha val="8000"/>
            </a:srgbClr>
          </a:solidFill>
          <a:ln w="5080">
            <a:solidFill>
              <a:srgbClr val="669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259689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OT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4088" y="3136392"/>
            <a:ext cx="146304" cy="146304"/>
          </a:xfrm>
          <a:prstGeom prst="ellipse">
            <a:avLst/>
          </a:prstGeom>
          <a:solidFill>
            <a:srgbClr val="020810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063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8–10 · FASE 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0584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ERP y Dashboard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05840" y="3538728"/>
            <a:ext cx="1874520" cy="228600"/>
          </a:xfrm>
          <a:prstGeom prst="rect">
            <a:avLst/>
          </a:prstGeom>
          <a:solidFill>
            <a:srgbClr val="FFCC00">
              <a:alpha val="8000"/>
            </a:srgbClr>
          </a:solidFill>
          <a:ln w="5080">
            <a:solidFill>
              <a:srgbClr val="FFC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355701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nómina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35808" y="3538728"/>
            <a:ext cx="1874520" cy="228600"/>
          </a:xfrm>
          <a:prstGeom prst="rect">
            <a:avLst/>
          </a:prstGeom>
          <a:solidFill>
            <a:srgbClr val="FFCC00">
              <a:alpha val="8000"/>
            </a:srgbClr>
          </a:solidFill>
          <a:ln w="5080">
            <a:solidFill>
              <a:srgbClr val="FFC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0672" y="355701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4D configurado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65776" y="3538728"/>
            <a:ext cx="1874520" cy="228600"/>
          </a:xfrm>
          <a:prstGeom prst="rect">
            <a:avLst/>
          </a:prstGeom>
          <a:solidFill>
            <a:srgbClr val="FFCC00">
              <a:alpha val="8000"/>
            </a:srgbClr>
          </a:solidFill>
          <a:ln w="5080">
            <a:solidFill>
              <a:srgbClr val="FFC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55701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notificaciones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095744" y="3538728"/>
            <a:ext cx="1874520" cy="228600"/>
          </a:xfrm>
          <a:prstGeom prst="rect">
            <a:avLst/>
          </a:prstGeom>
          <a:solidFill>
            <a:srgbClr val="FFCC00">
              <a:alpha val="8000"/>
            </a:srgbClr>
          </a:solidFill>
          <a:ln w="5080">
            <a:solidFill>
              <a:srgbClr val="FFC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355701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UAT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4088" y="4096512"/>
            <a:ext cx="146304" cy="146304"/>
          </a:xfrm>
          <a:prstGeom prst="ellipse">
            <a:avLst/>
          </a:prstGeom>
          <a:solidFill>
            <a:srgbClr val="02081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023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11–12 · FASE 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05840" y="4206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y Optimización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05840" y="4498848"/>
            <a:ext cx="1874520" cy="228600"/>
          </a:xfrm>
          <a:prstGeom prst="rect">
            <a:avLst/>
          </a:prstGeom>
          <a:solidFill>
            <a:srgbClr val="00E676">
              <a:alpha val="8000"/>
            </a:srgbClr>
          </a:solidFill>
          <a:ln w="5080">
            <a:solidFill>
              <a:srgbClr val="00E6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" y="45171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supervisores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35808" y="4498848"/>
            <a:ext cx="1874520" cy="228600"/>
          </a:xfrm>
          <a:prstGeom prst="rect">
            <a:avLst/>
          </a:prstGeom>
          <a:solidFill>
            <a:srgbClr val="00E676">
              <a:alpha val="8000"/>
            </a:srgbClr>
          </a:solidFill>
          <a:ln w="5080">
            <a:solidFill>
              <a:srgbClr val="00E6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0672" y="45171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en producción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65776" y="4498848"/>
            <a:ext cx="1874520" cy="228600"/>
          </a:xfrm>
          <a:prstGeom prst="rect">
            <a:avLst/>
          </a:prstGeom>
          <a:solidFill>
            <a:srgbClr val="00E676">
              <a:alpha val="8000"/>
            </a:srgbClr>
          </a:solidFill>
          <a:ln w="5080">
            <a:solidFill>
              <a:srgbClr val="00E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45171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modelos CV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095744" y="4498848"/>
            <a:ext cx="1874520" cy="228600"/>
          </a:xfrm>
          <a:prstGeom prst="rect">
            <a:avLst/>
          </a:prstGeom>
          <a:solidFill>
            <a:srgbClr val="00E676">
              <a:alpha val="8000"/>
            </a:srgbClr>
          </a:solidFill>
          <a:ln w="5080">
            <a:solidFill>
              <a:srgbClr val="00E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45171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hipercare 30d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114800"/>
          </a:xfrm>
          <a:prstGeom prst="ellipse">
            <a:avLst/>
          </a:prstGeom>
          <a:solidFill>
            <a:srgbClr val="001A3A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3657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37160"/>
            <a:ext cx="0" cy="36576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37160"/>
            <a:ext cx="3657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137160"/>
            <a:ext cx="0" cy="36576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640580"/>
            <a:ext cx="3657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4274820"/>
            <a:ext cx="0" cy="36576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4640580"/>
            <a:ext cx="3657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4274820"/>
            <a:ext cx="0" cy="36576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tu operación.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costos reales.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400" y="2395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ASSISTANTTRACK 4D · POWERED BY COMPUTER VISION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1828800" cy="841248"/>
          </a:xfrm>
          <a:prstGeom prst="rect">
            <a:avLst/>
          </a:prstGeom>
          <a:solidFill>
            <a:srgbClr val="00E5FF">
              <a:alpha val="6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06040" y="2788920"/>
            <a:ext cx="1828800" cy="841248"/>
          </a:xfrm>
          <a:prstGeom prst="rect">
            <a:avLst/>
          </a:prstGeom>
          <a:solidFill>
            <a:srgbClr val="00E5FF">
              <a:alpha val="6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6060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1828800" cy="841248"/>
          </a:xfrm>
          <a:prstGeom prst="rect">
            <a:avLst/>
          </a:prstGeom>
          <a:solidFill>
            <a:srgbClr val="00E5FF">
              <a:alpha val="6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634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AÑO 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788920"/>
            <a:ext cx="1828800" cy="841248"/>
          </a:xfrm>
          <a:prstGeom prst="rect">
            <a:avLst/>
          </a:prstGeom>
          <a:solidFill>
            <a:srgbClr val="00E5FF">
              <a:alpha val="6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208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0" y="3767328"/>
            <a:ext cx="2743200" cy="384048"/>
          </a:xfrm>
          <a:prstGeom prst="rect">
            <a:avLst/>
          </a:prstGeom>
          <a:solidFill>
            <a:srgbClr val="00E5FF">
              <a:alpha val="12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DEMO →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AssistantTrack 4D</dc:title>
  <dc:subject>PptxGenJS Presentation</dc:subject>
  <dc:creator>AssistantTrack</dc:creator>
  <cp:lastModifiedBy>AssistantTrack</cp:lastModifiedBy>
  <cp:revision>1</cp:revision>
  <dcterms:created xsi:type="dcterms:W3CDTF">2026-04-03T17:59:41Z</dcterms:created>
  <dcterms:modified xsi:type="dcterms:W3CDTF">2026-04-03T17:59:41Z</dcterms:modified>
</cp:coreProperties>
</file>